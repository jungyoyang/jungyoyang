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58" r:id="rId3"/>
    <p:sldId id="287" r:id="rId4"/>
    <p:sldId id="269" r:id="rId5"/>
    <p:sldId id="291" r:id="rId6"/>
    <p:sldId id="292" r:id="rId7"/>
    <p:sldId id="293" r:id="rId8"/>
    <p:sldId id="294" r:id="rId9"/>
    <p:sldId id="295" r:id="rId10"/>
    <p:sldId id="296" r:id="rId11"/>
    <p:sldId id="289" r:id="rId12"/>
    <p:sldId id="297" r:id="rId13"/>
    <p:sldId id="298" r:id="rId14"/>
    <p:sldId id="302" r:id="rId15"/>
    <p:sldId id="301" r:id="rId16"/>
    <p:sldId id="299" r:id="rId17"/>
    <p:sldId id="288" r:id="rId18"/>
    <p:sldId id="300" r:id="rId19"/>
    <p:sldId id="28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C42"/>
    <a:srgbClr val="BFDCF7"/>
    <a:srgbClr val="E6DCD0"/>
    <a:srgbClr val="FDFD7F"/>
    <a:srgbClr val="F3EEE8"/>
    <a:srgbClr val="1F72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4628" autoAdjust="0"/>
  </p:normalViewPr>
  <p:slideViewPr>
    <p:cSldViewPr snapToGrid="0">
      <p:cViewPr varScale="1">
        <p:scale>
          <a:sx n="111" d="100"/>
          <a:sy n="111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D1291-31CC-4769-B1E8-4E7E9F5CA224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7E6A8-18DA-45D5-93B9-BFE8B75F8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593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47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04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28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00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8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48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17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59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32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47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710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17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34" y="261789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ko-KR" altLang="en-US" sz="4800" kern="0" dirty="0">
                <a:ln w="15875">
                  <a:noFill/>
                </a:ln>
                <a:solidFill>
                  <a:srgbClr val="FF6600"/>
                </a:solidFill>
                <a:latin typeface="티웨이_항공" panose="02000300000000000000" pitchFamily="2" charset="-127"/>
                <a:ea typeface="티웨이_항공" panose="02000300000000000000" pitchFamily="2" charset="-127"/>
              </a:rPr>
              <a:t>날씨에 따른 야채 가격 변화 분석</a:t>
            </a:r>
            <a:r>
              <a:rPr lang="en-US" altLang="ko-KR" sz="4800" kern="0" dirty="0">
                <a:ln w="158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티웨이_항공" panose="02000300000000000000" pitchFamily="2" charset="-127"/>
                <a:ea typeface="티웨이_항공" panose="02000300000000000000" pitchFamily="2" charset="-127"/>
              </a:rPr>
              <a:t> </a:t>
            </a:r>
          </a:p>
          <a:p>
            <a:pPr algn="ctr" latinLnBrk="0">
              <a:defRPr/>
            </a:pPr>
            <a:endParaRPr lang="en-US" altLang="ko-KR" sz="4800" kern="0" dirty="0">
              <a:ln w="158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티웨이_항공" panose="02000300000000000000" pitchFamily="2" charset="-127"/>
              <a:ea typeface="티웨이_항공" panose="02000300000000000000" pitchFamily="2" charset="-127"/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79475" y="4636602"/>
            <a:ext cx="406954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201432360 </a:t>
            </a:r>
            <a:r>
              <a:rPr lang="ko-KR" altLang="en-US" sz="1400" dirty="0" err="1">
                <a:solidFill>
                  <a:schemeClr val="bg2">
                    <a:lumMod val="5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양정요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201935093 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이동진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201935842 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이서현</a:t>
            </a:r>
          </a:p>
          <a:p>
            <a:pPr latinLnBrk="0">
              <a:lnSpc>
                <a:spcPct val="150000"/>
              </a:lnSpc>
              <a:defRPr/>
            </a:pP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endParaRPr lang="ko-KR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7996688" y="3804249"/>
            <a:ext cx="3640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2">
                    <a:lumMod val="25000"/>
                  </a:schemeClr>
                </a:solidFill>
                <a:latin typeface="티웨이_항공" panose="02000300000000000000" pitchFamily="2" charset="-127"/>
                <a:ea typeface="티웨이_항공" panose="02000300000000000000" pitchFamily="2" charset="-127"/>
              </a:rPr>
              <a:t>인공지능</a:t>
            </a:r>
          </a:p>
        </p:txBody>
      </p:sp>
    </p:spTree>
    <p:extLst>
      <p:ext uri="{BB962C8B-B14F-4D97-AF65-F5344CB8AC3E}">
        <p14:creationId xmlns:p14="http://schemas.microsoft.com/office/powerpoint/2010/main" val="379519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34" y="286168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ko-KR" altLang="en-US" sz="2000" kern="0" dirty="0">
                <a:ln w="15875">
                  <a:noFill/>
                </a:ln>
                <a:solidFill>
                  <a:srgbClr val="FF6600"/>
                </a:solidFill>
                <a:latin typeface="티웨이_항공" panose="02000300000000000000" pitchFamily="2" charset="-127"/>
                <a:ea typeface="티웨이_항공" panose="02000300000000000000" pitchFamily="2" charset="-127"/>
              </a:rPr>
              <a:t>날씨에 따른 야채 가격 변화 분석</a:t>
            </a:r>
            <a:r>
              <a:rPr lang="en-US" altLang="ko-KR" sz="2000" kern="0" dirty="0">
                <a:ln w="158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티웨이_항공" panose="02000300000000000000" pitchFamily="2" charset="-127"/>
                <a:ea typeface="티웨이_항공" panose="02000300000000000000" pitchFamily="2" charset="-127"/>
              </a:rPr>
              <a:t> </a:t>
            </a:r>
          </a:p>
          <a:p>
            <a:pPr algn="ctr" latinLnBrk="0">
              <a:defRPr/>
            </a:pPr>
            <a:r>
              <a:rPr lang="en-US" altLang="ko-KR" sz="2000" kern="0" dirty="0">
                <a:ln w="158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ko-KR" sz="2000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</a:t>
            </a:r>
            <a:r>
              <a:rPr lang="ko-KR" altLang="en-US" sz="2000" b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인공지능</a:t>
            </a:r>
            <a:endParaRPr lang="en-US" altLang="ko-KR" sz="2000" b="1" kern="0" dirty="0">
              <a:ln w="15875">
                <a:noFill/>
              </a:ln>
              <a:solidFill>
                <a:schemeClr val="bg2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9" name="사각형: 둥근 모서리 18">
            <a:extLst>
              <a:ext uri="{FF2B5EF4-FFF2-40B4-BE49-F238E27FC236}">
                <a16:creationId xmlns:a16="http://schemas.microsoft.com/office/drawing/2014/main" id="{523173F9-D41A-A1E8-29BC-ECA9DBBE98D6}"/>
              </a:ext>
            </a:extLst>
          </p:cNvPr>
          <p:cNvSpPr/>
          <p:nvPr/>
        </p:nvSpPr>
        <p:spPr>
          <a:xfrm>
            <a:off x="3161905" y="1578170"/>
            <a:ext cx="146126" cy="4531355"/>
          </a:xfrm>
          <a:prstGeom prst="roundRect">
            <a:avLst>
              <a:gd name="adj" fmla="val 50000"/>
            </a:avLst>
          </a:prstGeom>
          <a:solidFill>
            <a:srgbClr val="1F7258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0277" y="1578170"/>
            <a:ext cx="36432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1. 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팀 목표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2. 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코드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3. 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선형 회귀 분석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4. 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결과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5.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소감</a:t>
            </a:r>
            <a:endParaRPr lang="ko-KR" altLang="en-US" sz="2400" dirty="0"/>
          </a:p>
          <a:p>
            <a:pPr marL="457200" indent="-457200" algn="ctr">
              <a:buAutoNum type="arabicPeriod"/>
            </a:pPr>
            <a:endParaRPr lang="ko-KR" altLang="en-US" sz="2400" dirty="0"/>
          </a:p>
          <a:p>
            <a:pPr marL="457200" indent="-457200" algn="ctr">
              <a:buAutoNum type="arabicPeriod"/>
            </a:pPr>
            <a:endParaRPr lang="ko-KR" altLang="en-US" sz="2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/>
            <a:endParaRPr lang="ko-KR" altLang="en-US" sz="2400" dirty="0"/>
          </a:p>
        </p:txBody>
      </p:sp>
      <p:sp>
        <p:nvSpPr>
          <p:cNvPr id="38" name="사각형: 둥근 모서리 18">
            <a:extLst>
              <a:ext uri="{FF2B5EF4-FFF2-40B4-BE49-F238E27FC236}">
                <a16:creationId xmlns:a16="http://schemas.microsoft.com/office/drawing/2014/main" id="{523173F9-D41A-A1E8-29BC-ECA9DBBE98D6}"/>
              </a:ext>
            </a:extLst>
          </p:cNvPr>
          <p:cNvSpPr/>
          <p:nvPr/>
        </p:nvSpPr>
        <p:spPr>
          <a:xfrm>
            <a:off x="9120340" y="1578170"/>
            <a:ext cx="146126" cy="4531355"/>
          </a:xfrm>
          <a:prstGeom prst="roundRect">
            <a:avLst>
              <a:gd name="adj" fmla="val 50000"/>
            </a:avLst>
          </a:prstGeom>
          <a:solidFill>
            <a:srgbClr val="1F7258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26" name="Picture 2" descr="산업용 로봇 - 무료 산업개 아이콘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38292" y="5196710"/>
            <a:ext cx="1150354" cy="136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산업용 로봇 - 무료 산업개 아이콘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296" y="5194906"/>
            <a:ext cx="1189750" cy="136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39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767169"/>
            <a:ext cx="582300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2007" y="3099212"/>
            <a:ext cx="61383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3200" b="1" dirty="0">
                <a:solidFill>
                  <a:srgbClr val="FF6600"/>
                </a:solidFill>
              </a:rPr>
              <a:t>인공지능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을 통해 </a:t>
            </a:r>
            <a:r>
              <a:rPr lang="ko-KR" altLang="en-US" sz="3200" b="1" dirty="0">
                <a:solidFill>
                  <a:srgbClr val="FF6600"/>
                </a:solidFill>
              </a:rPr>
              <a:t>날씨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와 </a:t>
            </a:r>
            <a:r>
              <a:rPr lang="ko-KR" altLang="en-US" sz="3200" b="1" dirty="0">
                <a:solidFill>
                  <a:srgbClr val="FF6600"/>
                </a:solidFill>
              </a:rPr>
              <a:t>야채 가격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의 변화에 대한 </a:t>
            </a:r>
            <a:r>
              <a:rPr lang="ko-KR" altLang="en-US" sz="3200" b="1" dirty="0">
                <a:solidFill>
                  <a:srgbClr val="FF6600"/>
                </a:solidFill>
              </a:rPr>
              <a:t>상관관계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를 파악할 수 있다</a:t>
            </a:r>
            <a:endParaRPr lang="ko-KR" altLang="en-US" sz="3200" dirty="0"/>
          </a:p>
        </p:txBody>
      </p:sp>
      <p:pic>
        <p:nvPicPr>
          <p:cNvPr id="4098" name="Picture 2" descr="팀 - 무료 사람들개 아이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886" y="2682392"/>
            <a:ext cx="2711912" cy="271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609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2220" y="4016309"/>
            <a:ext cx="583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데이터 입력 및 모듈 </a:t>
            </a:r>
            <a:r>
              <a:rPr lang="ko-KR" altLang="en-US" sz="3200" b="1" dirty="0" err="1">
                <a:solidFill>
                  <a:schemeClr val="bg2">
                    <a:lumMod val="25000"/>
                  </a:schemeClr>
                </a:solidFill>
              </a:rPr>
              <a:t>임포트</a:t>
            </a:r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82" y="1951652"/>
            <a:ext cx="8841037" cy="1684007"/>
          </a:xfrm>
          <a:prstGeom prst="rect">
            <a:avLst/>
          </a:prstGeom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862220" y="4816527"/>
            <a:ext cx="988076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 Mono"/>
              </a:rPr>
              <a:t>numpy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"/>
              </a:rPr>
              <a:t>는 수치 연산을 위해, 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 Mono"/>
              </a:rPr>
              <a:t>sklearn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"/>
              </a:rPr>
              <a:t>의 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 Mono"/>
              </a:rPr>
              <a:t>LinearRegression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"/>
              </a:rPr>
              <a:t>은 선형 회귀 모델을 만들기 위해, 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 Mono"/>
              </a:rPr>
              <a:t>matplotlib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"/>
              </a:rPr>
              <a:t>은 데이터를 시각화하기 위해 사용</a:t>
            </a:r>
            <a:r>
              <a:rPr kumimoji="0" lang="ko-KR" altLang="en-US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"/>
              </a:rPr>
              <a:t>된다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j-lt"/>
                <a:ea typeface="Söhne"/>
              </a:rPr>
              <a:t>.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5772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2220" y="4016309"/>
            <a:ext cx="583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2. 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데이터 입력 </a:t>
            </a:r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862220" y="4860118"/>
            <a:ext cx="9880763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0"/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기온과 데이터를</a:t>
            </a:r>
            <a:r>
              <a:rPr lang="en-US" altLang="ko-KR" sz="2800" dirty="0">
                <a:solidFill>
                  <a:srgbClr val="0D0D0D"/>
                </a:solidFill>
                <a:latin typeface="+mn-lt"/>
                <a:ea typeface="Söhne"/>
              </a:rPr>
              <a:t> </a:t>
            </a:r>
            <a:r>
              <a:rPr lang="ko-KR" altLang="ko-KR" sz="2800" b="1" dirty="0">
                <a:solidFill>
                  <a:srgbClr val="0D0D0D"/>
                </a:solidFill>
                <a:latin typeface="+mn-lt"/>
                <a:ea typeface="Söhne Mono"/>
              </a:rPr>
              <a:t>numpy </a:t>
            </a:r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배열로 정의한다</a:t>
            </a:r>
            <a:endParaRPr lang="ko-KR" altLang="ko-KR" sz="2800" dirty="0">
              <a:latin typeface="+mn-lt"/>
            </a:endParaRPr>
          </a:p>
          <a:p>
            <a:pPr lvl="0" latinLnBrk="0"/>
            <a:r>
              <a:rPr lang="en-US" altLang="ko-KR" sz="2800" dirty="0">
                <a:solidFill>
                  <a:srgbClr val="0D0D0D"/>
                </a:solidFill>
                <a:latin typeface="+mn-lt"/>
                <a:ea typeface="Söhne Mono"/>
              </a:rPr>
              <a:t>‘reshape(-1,1)’ </a:t>
            </a:r>
            <a:r>
              <a:rPr kumimoji="0" lang="ko-KR" altLang="en-US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n-lt"/>
                <a:ea typeface="Söhne"/>
              </a:rPr>
              <a:t>은 기온 데이터를 열 벡터 형태로 변환한다</a:t>
            </a: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+mn-lt"/>
                <a:ea typeface="Söhne"/>
              </a:rPr>
              <a:t>. 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753" y="2145585"/>
            <a:ext cx="9838536" cy="130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0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2220" y="4016309"/>
            <a:ext cx="583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3. 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선형회귀 모델학습</a:t>
            </a:r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862220" y="4860118"/>
            <a:ext cx="9880763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0"/>
            <a:r>
              <a:rPr lang="en-US" altLang="ko-KR" sz="2800" b="1" dirty="0">
                <a:solidFill>
                  <a:srgbClr val="0D0D0D"/>
                </a:solidFill>
                <a:latin typeface="+mn-lt"/>
                <a:ea typeface="Söhne"/>
              </a:rPr>
              <a:t>‘</a:t>
            </a:r>
            <a:r>
              <a:rPr lang="en-US" altLang="ko-KR" sz="2800" b="1" dirty="0" err="1">
                <a:solidFill>
                  <a:srgbClr val="0D0D0D"/>
                </a:solidFill>
                <a:latin typeface="+mn-lt"/>
                <a:ea typeface="Söhne Mono"/>
              </a:rPr>
              <a:t>LinearRegression</a:t>
            </a:r>
            <a:r>
              <a:rPr lang="en-US" altLang="ko-KR" sz="2800" b="1" dirty="0">
                <a:solidFill>
                  <a:srgbClr val="0D0D0D"/>
                </a:solidFill>
                <a:latin typeface="+mn-lt"/>
                <a:ea typeface="Söhne Mono"/>
              </a:rPr>
              <a:t>’</a:t>
            </a:r>
            <a:r>
              <a:rPr lang="ko-KR" altLang="ko-KR" sz="2800" b="1" dirty="0">
                <a:solidFill>
                  <a:srgbClr val="0D0D0D"/>
                </a:solidFill>
                <a:latin typeface="+mn-lt"/>
                <a:ea typeface="Söhne Mono"/>
              </a:rPr>
              <a:t> </a:t>
            </a:r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모델을 초기화하고</a:t>
            </a:r>
            <a:r>
              <a:rPr lang="en-US" altLang="ko-KR" sz="2800" dirty="0">
                <a:solidFill>
                  <a:srgbClr val="0D0D0D"/>
                </a:solidFill>
                <a:latin typeface="+mn-lt"/>
                <a:ea typeface="Söhne"/>
              </a:rPr>
              <a:t>, </a:t>
            </a:r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기온을 독립변수로</a:t>
            </a:r>
            <a:r>
              <a:rPr lang="en-US" altLang="ko-KR" sz="2800" dirty="0">
                <a:solidFill>
                  <a:srgbClr val="0D0D0D"/>
                </a:solidFill>
                <a:latin typeface="+mn-lt"/>
                <a:ea typeface="Söhne"/>
              </a:rPr>
              <a:t>, </a:t>
            </a:r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가격을 종속변수로 하여 모델을 학습시킨다</a:t>
            </a:r>
            <a:r>
              <a:rPr lang="en-US" altLang="ko-KR" sz="2800" dirty="0">
                <a:solidFill>
                  <a:srgbClr val="0D0D0D"/>
                </a:solidFill>
                <a:latin typeface="+mn-lt"/>
                <a:ea typeface="Söhne"/>
              </a:rPr>
              <a:t>.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79" y="2008270"/>
            <a:ext cx="9878821" cy="164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8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2220" y="4016309"/>
            <a:ext cx="583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4. 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모델 </a:t>
            </a:r>
            <a:r>
              <a:rPr lang="ko-KR" altLang="en-US" sz="3200" b="1" dirty="0" err="1">
                <a:solidFill>
                  <a:schemeClr val="bg2">
                    <a:lumMod val="25000"/>
                  </a:schemeClr>
                </a:solidFill>
              </a:rPr>
              <a:t>파라미터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 출력</a:t>
            </a:r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862220" y="5075561"/>
            <a:ext cx="9880763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0"/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학습된 모델의 기울기와 </a:t>
            </a:r>
            <a:r>
              <a:rPr lang="en-US" altLang="ko-KR" sz="2800" dirty="0">
                <a:solidFill>
                  <a:srgbClr val="0D0D0D"/>
                </a:solidFill>
                <a:latin typeface="+mn-lt"/>
                <a:ea typeface="Söhne"/>
              </a:rPr>
              <a:t>y</a:t>
            </a:r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와</a:t>
            </a:r>
            <a:r>
              <a:rPr lang="en-US" altLang="ko-KR" sz="2800" dirty="0">
                <a:solidFill>
                  <a:srgbClr val="0D0D0D"/>
                </a:solidFill>
                <a:latin typeface="+mn-lt"/>
                <a:ea typeface="Söhne"/>
              </a:rPr>
              <a:t> </a:t>
            </a:r>
            <a:r>
              <a:rPr lang="ko-KR" altLang="en-US" sz="2800" dirty="0">
                <a:solidFill>
                  <a:srgbClr val="0D0D0D"/>
                </a:solidFill>
                <a:latin typeface="+mn-lt"/>
                <a:ea typeface="Söhne"/>
              </a:rPr>
              <a:t>절편을 출력한다</a:t>
            </a:r>
            <a:endParaRPr kumimoji="0" lang="ko-KR" altLang="ko-K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38" y="2076092"/>
            <a:ext cx="7900503" cy="148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8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2220" y="4016309"/>
            <a:ext cx="583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가격 예측</a:t>
            </a:r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862220" y="5075561"/>
            <a:ext cx="9880763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0"/>
            <a:r>
              <a:rPr kumimoji="0" lang="ko-KR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특정 기온</a:t>
            </a:r>
            <a:r>
              <a:rPr kumimoji="0" lang="en-US" altLang="ko-K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(25)</a:t>
            </a:r>
            <a:r>
              <a:rPr kumimoji="0" lang="ko-KR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도에 대한 가격을 </a:t>
            </a:r>
            <a:r>
              <a:rPr kumimoji="0" lang="ko-KR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에측하고</a:t>
            </a:r>
            <a:r>
              <a:rPr kumimoji="0" lang="ko-KR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그 값을 출력한다</a:t>
            </a:r>
            <a:r>
              <a:rPr lang="en-US" altLang="ko-KR" sz="2800" dirty="0">
                <a:latin typeface="+mn-lt"/>
              </a:rPr>
              <a:t>.</a:t>
            </a:r>
            <a:endParaRPr kumimoji="0" lang="ko-KR" altLang="ko-K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220" y="2150767"/>
            <a:ext cx="8209162" cy="153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4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2220" y="4016309"/>
            <a:ext cx="583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6. 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모델의 시각화</a:t>
            </a:r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862220" y="4644674"/>
            <a:ext cx="988076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0"/>
            <a:r>
              <a:rPr lang="ko-KR" altLang="en-US" sz="2800" dirty="0">
                <a:latin typeface="+mn-lt"/>
              </a:rPr>
              <a:t>데이터를 </a:t>
            </a:r>
            <a:r>
              <a:rPr lang="ko-KR" altLang="en-US" sz="2800" dirty="0" err="1">
                <a:latin typeface="+mn-lt"/>
              </a:rPr>
              <a:t>산점도로</a:t>
            </a:r>
            <a:r>
              <a:rPr lang="ko-KR" altLang="en-US" sz="2800" dirty="0">
                <a:latin typeface="+mn-lt"/>
              </a:rPr>
              <a:t> 시각화하고 선형회귀 모델의 예측 결과를 빨간색 선으로 시각화하여 기온과 가격 사이의 관계를 나타낸다</a:t>
            </a:r>
            <a:endParaRPr kumimoji="0" lang="ko-KR" altLang="ko-K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959" y="1869636"/>
            <a:ext cx="8298458" cy="194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44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code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681" y="880268"/>
            <a:ext cx="6020640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0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Linear Regression Analysis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84500" y="580417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선형 회귀 분석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30" name="그림 2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978" y="2028211"/>
            <a:ext cx="5667375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6982353" y="2593392"/>
            <a:ext cx="46330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FF6600"/>
                </a:solidFill>
              </a:rPr>
              <a:t>선정 이유</a:t>
            </a:r>
            <a:r>
              <a:rPr lang="en-US" altLang="ko-KR" sz="4000" b="1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endParaRPr lang="en-US" altLang="ko-KR" sz="40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기온과 상품 가격 사이의 관계를 이해하고 예측하기 위해 선형 회귀 분석을 사용했다</a:t>
            </a:r>
            <a:endParaRPr lang="en-US" altLang="ko-KR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784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Linear Regression Analysis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84500" y="580417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선형 회귀 분석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30" name="그림 2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978" y="2028211"/>
            <a:ext cx="5667375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6804554" y="2028211"/>
            <a:ext cx="508674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FF6600"/>
                </a:solidFill>
              </a:rPr>
              <a:t>그래프</a:t>
            </a:r>
            <a:r>
              <a:rPr lang="ko-KR" altLang="en-US" sz="4000" b="1" dirty="0">
                <a:solidFill>
                  <a:schemeClr val="bg2">
                    <a:lumMod val="25000"/>
                  </a:schemeClr>
                </a:solidFill>
              </a:rPr>
              <a:t>를 통해 알 수 있는 점</a:t>
            </a:r>
            <a:r>
              <a:rPr lang="en-US" altLang="ko-KR" sz="4000" b="1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514350" indent="-514350">
              <a:buAutoNum type="arabicPeriod"/>
            </a:pP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기온과 상품 가격 사이의 관계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기온↑가격 ↑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 값에 대한 상품 가격을 예측할 수 있어 특정 기온에 해당하는 가격을 알 수 있다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42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Linear Regression Analysis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84500" y="580417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선형 회귀 분석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30" name="그림 2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978" y="2028211"/>
            <a:ext cx="5667375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6804554" y="2486712"/>
            <a:ext cx="50867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FF6600"/>
                </a:solidFill>
              </a:rPr>
              <a:t>그래프</a:t>
            </a:r>
            <a:r>
              <a:rPr lang="ko-KR" altLang="en-US" sz="4000" b="1" dirty="0">
                <a:solidFill>
                  <a:schemeClr val="bg2">
                    <a:lumMod val="25000"/>
                  </a:schemeClr>
                </a:solidFill>
              </a:rPr>
              <a:t>를 통해 알 수 있는 점</a:t>
            </a:r>
            <a:r>
              <a:rPr lang="en-US" altLang="ko-KR" sz="4000" b="1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endParaRPr lang="en-US" altLang="ko-KR" sz="40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기온과 상품의 가격 분포를 확인 할 수 있다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3929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result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84500" y="580417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예측 결과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65755" y="2363938"/>
            <a:ext cx="63110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기온이 </a:t>
            </a:r>
            <a:r>
              <a:rPr lang="en-US" altLang="ko-KR" sz="2800" b="1" dirty="0">
                <a:solidFill>
                  <a:srgbClr val="FF6600"/>
                </a:solidFill>
              </a:rPr>
              <a:t>25</a:t>
            </a:r>
            <a:r>
              <a:rPr lang="ko-KR" altLang="en-US" sz="2800" dirty="0">
                <a:solidFill>
                  <a:srgbClr val="FF6600"/>
                </a:solidFill>
              </a:rPr>
              <a:t>도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 때의 상품 가격 </a:t>
            </a:r>
            <a:r>
              <a:rPr lang="ko-KR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예측값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약 </a:t>
            </a:r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5241.54</a:t>
            </a:r>
          </a:p>
          <a:p>
            <a:endParaRPr lang="en-US" altLang="ko-KR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기온이 </a:t>
            </a:r>
            <a:r>
              <a:rPr lang="en-US" altLang="ko-KR" sz="2800" b="1" dirty="0">
                <a:solidFill>
                  <a:srgbClr val="FF6600"/>
                </a:solidFill>
              </a:rPr>
              <a:t>30</a:t>
            </a:r>
            <a:r>
              <a:rPr lang="ko-KR" altLang="en-US" sz="2800" dirty="0">
                <a:solidFill>
                  <a:srgbClr val="FF6600"/>
                </a:solidFill>
              </a:rPr>
              <a:t>도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 때의 상품 가격 </a:t>
            </a:r>
            <a:r>
              <a:rPr lang="ko-KR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예측값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약 </a:t>
            </a:r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5686.98</a:t>
            </a:r>
          </a:p>
          <a:p>
            <a:endParaRPr lang="en-US" altLang="ko-KR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기온이 </a:t>
            </a:r>
            <a:r>
              <a:rPr lang="en-US" altLang="ko-KR" sz="2800" b="1" dirty="0">
                <a:solidFill>
                  <a:srgbClr val="FF6600"/>
                </a:solidFill>
              </a:rPr>
              <a:t>15</a:t>
            </a:r>
            <a:r>
              <a:rPr lang="ko-KR" altLang="en-US" sz="2800" dirty="0">
                <a:solidFill>
                  <a:srgbClr val="FF6600"/>
                </a:solidFill>
              </a:rPr>
              <a:t>도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 때의 상품 가격 </a:t>
            </a:r>
            <a:r>
              <a:rPr lang="ko-KR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예측값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약 </a:t>
            </a:r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4350.65</a:t>
            </a:r>
          </a:p>
        </p:txBody>
      </p:sp>
      <p:pic>
        <p:nvPicPr>
          <p:cNvPr id="29" name="Picture 6" descr="빅 데이터 - 무료 컴퓨터개 아이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068" y="2426408"/>
            <a:ext cx="3476959" cy="347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326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result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84500" y="580417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결과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91871" y="2987527"/>
            <a:ext cx="60588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 모델에 의하면 </a:t>
            </a:r>
            <a:r>
              <a:rPr lang="ko-KR" altLang="en-US" sz="2800" b="1" dirty="0">
                <a:solidFill>
                  <a:srgbClr val="FF6600"/>
                </a:solidFill>
              </a:rPr>
              <a:t>기온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 </a:t>
            </a:r>
            <a:r>
              <a:rPr lang="ko-KR" altLang="en-US" sz="2800" b="1" dirty="0">
                <a:solidFill>
                  <a:srgbClr val="FF6600"/>
                </a:solidFill>
              </a:rPr>
              <a:t>증가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할수록 상품 </a:t>
            </a:r>
            <a:r>
              <a:rPr lang="ko-KR" altLang="en-US" sz="2800" b="1" dirty="0">
                <a:solidFill>
                  <a:srgbClr val="FF6600"/>
                </a:solidFill>
              </a:rPr>
              <a:t>가격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도 </a:t>
            </a:r>
            <a:r>
              <a:rPr lang="ko-KR" altLang="en-US" sz="2800" b="1" dirty="0">
                <a:solidFill>
                  <a:srgbClr val="FF6600"/>
                </a:solidFill>
              </a:rPr>
              <a:t>증가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하는 경향을 보이며</a:t>
            </a:r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2800" b="1" dirty="0">
                <a:solidFill>
                  <a:srgbClr val="FF6600"/>
                </a:solidFill>
              </a:rPr>
              <a:t>높은 기온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에서는 </a:t>
            </a:r>
            <a:r>
              <a:rPr lang="ko-KR" altLang="en-US" sz="2800" b="1" dirty="0">
                <a:solidFill>
                  <a:srgbClr val="FF6600"/>
                </a:solidFill>
              </a:rPr>
              <a:t>더 높은 가격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을 예측할 수 있다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pic>
        <p:nvPicPr>
          <p:cNvPr id="29" name="Picture 6" descr="빅 데이터 - 무료 컴퓨터개 아이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068" y="2426408"/>
            <a:ext cx="3476959" cy="347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24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result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84500" y="580417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결과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91871" y="2987527"/>
            <a:ext cx="60588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 모델에 의하면 </a:t>
            </a:r>
            <a:r>
              <a:rPr lang="ko-KR" altLang="en-US" sz="2800" b="1" dirty="0">
                <a:solidFill>
                  <a:srgbClr val="FF6600"/>
                </a:solidFill>
              </a:rPr>
              <a:t>기온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 </a:t>
            </a:r>
            <a:r>
              <a:rPr lang="ko-KR" altLang="en-US" sz="2800" b="1" dirty="0">
                <a:solidFill>
                  <a:srgbClr val="FF6600"/>
                </a:solidFill>
              </a:rPr>
              <a:t>증가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할수록 상품 </a:t>
            </a:r>
            <a:r>
              <a:rPr lang="ko-KR" altLang="en-US" sz="2800" b="1" dirty="0">
                <a:solidFill>
                  <a:srgbClr val="FF6600"/>
                </a:solidFill>
              </a:rPr>
              <a:t>가격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도 </a:t>
            </a:r>
            <a:r>
              <a:rPr lang="ko-KR" altLang="en-US" sz="2800" b="1" dirty="0">
                <a:solidFill>
                  <a:srgbClr val="FF6600"/>
                </a:solidFill>
              </a:rPr>
              <a:t>증가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하는 경향을 보이며</a:t>
            </a:r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2800" b="1" dirty="0">
                <a:solidFill>
                  <a:srgbClr val="FF6600"/>
                </a:solidFill>
              </a:rPr>
              <a:t>높은 기온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에서는 </a:t>
            </a:r>
            <a:r>
              <a:rPr lang="ko-KR" altLang="en-US" sz="2800" b="1" dirty="0">
                <a:solidFill>
                  <a:srgbClr val="FF6600"/>
                </a:solidFill>
              </a:rPr>
              <a:t>더 높은 가격</a:t>
            </a:r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을 예측할 수 있다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pic>
        <p:nvPicPr>
          <p:cNvPr id="29" name="Picture 6" descr="빅 데이터 - 무료 컴퓨터개 아이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068" y="2426408"/>
            <a:ext cx="3476959" cy="347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149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ko-KR" altLang="en-US" sz="2400" b="1" kern="0" dirty="0" err="1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느낀점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소감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06299" y="2104770"/>
            <a:ext cx="50245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양정요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:</a:t>
            </a:r>
          </a:p>
          <a:p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날씨에 따라 가격변동이 큰 토마토의 가격을 조사하면서 예측 가능한 모델을 구현한다면 일상에서도 적용 </a:t>
            </a:r>
            <a:r>
              <a:rPr lang="ko-KR" altLang="en-US" sz="3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안되는</a:t>
            </a:r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곳이 없을 정도로 유용하겠다고 느꼈다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0827" y="2115570"/>
            <a:ext cx="50245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이동진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:</a:t>
            </a:r>
          </a:p>
          <a:p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KNN</a:t>
            </a:r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알고리즘하고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K-Means</a:t>
            </a:r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알고리즘을 구현 </a:t>
            </a:r>
            <a:r>
              <a:rPr lang="ko-KR" altLang="en-US" sz="3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못한게</a:t>
            </a:r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생각보다 많이 아쉽지만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그래도 온도에 따라 대략적인 가격을 예측할 수 있다는 것에 의의를 두었다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3955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8D2D14CD-9D20-02BD-E815-C7672E21134B}"/>
              </a:ext>
            </a:extLst>
          </p:cNvPr>
          <p:cNvSpPr/>
          <p:nvPr/>
        </p:nvSpPr>
        <p:spPr>
          <a:xfrm>
            <a:off x="241441" y="261791"/>
            <a:ext cx="11709121" cy="63344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 latinLnBrk="0">
              <a:defRPr/>
            </a:pPr>
            <a:r>
              <a:rPr lang="en-US" altLang="ko-KR" sz="2400" i="1" kern="0" dirty="0">
                <a:ln w="15875">
                  <a:noFill/>
                </a:ln>
                <a:solidFill>
                  <a:srgbClr val="FF66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5.</a:t>
            </a:r>
            <a:r>
              <a:rPr lang="en-US" altLang="ko-KR" sz="2400" i="1" kern="0" dirty="0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ko-KR" altLang="en-US" sz="2400" b="1" kern="0" dirty="0" err="1">
                <a:ln w="15875">
                  <a:noFill/>
                </a:ln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느낀점</a:t>
            </a:r>
            <a:endParaRPr lang="ko-KR" altLang="en-US" sz="1100" b="1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한쪽 모서리가 둥근 사각형 6">
            <a:extLst>
              <a:ext uri="{FF2B5EF4-FFF2-40B4-BE49-F238E27FC236}">
                <a16:creationId xmlns:a16="http://schemas.microsoft.com/office/drawing/2014/main" id="{891DD3AB-97A6-2650-0CB5-EE429E0CD23B}"/>
              </a:ext>
            </a:extLst>
          </p:cNvPr>
          <p:cNvSpPr/>
          <p:nvPr/>
        </p:nvSpPr>
        <p:spPr>
          <a:xfrm flipH="1">
            <a:off x="241434" y="261789"/>
            <a:ext cx="566064" cy="6334420"/>
          </a:xfrm>
          <a:prstGeom prst="rect">
            <a:avLst/>
          </a:prstGeom>
          <a:solidFill>
            <a:srgbClr val="1F7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CABCD351-9E1C-E4E7-C8E8-FFEA70ED313D}"/>
              </a:ext>
            </a:extLst>
          </p:cNvPr>
          <p:cNvSpPr>
            <a:spLocks/>
          </p:cNvSpPr>
          <p:nvPr/>
        </p:nvSpPr>
        <p:spPr bwMode="auto">
          <a:xfrm>
            <a:off x="463574" y="1951652"/>
            <a:ext cx="116026" cy="15311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1CCD9B98-315A-623B-A48E-629644089469}"/>
              </a:ext>
            </a:extLst>
          </p:cNvPr>
          <p:cNvSpPr>
            <a:spLocks noEditPoints="1"/>
          </p:cNvSpPr>
          <p:nvPr/>
        </p:nvSpPr>
        <p:spPr bwMode="auto">
          <a:xfrm>
            <a:off x="467351" y="3528985"/>
            <a:ext cx="92872" cy="156204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8761B10B-00D6-8477-1DD7-9441179CD5AA}"/>
              </a:ext>
            </a:extLst>
          </p:cNvPr>
          <p:cNvSpPr>
            <a:spLocks/>
          </p:cNvSpPr>
          <p:nvPr/>
        </p:nvSpPr>
        <p:spPr bwMode="auto">
          <a:xfrm>
            <a:off x="451683" y="3014424"/>
            <a:ext cx="139808" cy="12236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043353F6-1BDB-CCC8-0B8F-55ABD667106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450953" y="2496973"/>
            <a:ext cx="141269" cy="12524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E8D28D-B73A-6E59-57DE-C8414DE1168C}"/>
              </a:ext>
            </a:extLst>
          </p:cNvPr>
          <p:cNvGrpSpPr/>
          <p:nvPr/>
        </p:nvGrpSpPr>
        <p:grpSpPr>
          <a:xfrm>
            <a:off x="395004" y="465739"/>
            <a:ext cx="265151" cy="265151"/>
            <a:chOff x="1593332" y="2172798"/>
            <a:chExt cx="1083168" cy="108316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1F6C68D-4E2E-BD85-B1DD-E5F92D8198AD}"/>
                </a:ext>
              </a:extLst>
            </p:cNvPr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2947BAD-89BC-F5D6-AFDA-31B470C2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31">
            <a:extLst>
              <a:ext uri="{FF2B5EF4-FFF2-40B4-BE49-F238E27FC236}">
                <a16:creationId xmlns:a16="http://schemas.microsoft.com/office/drawing/2014/main" id="{DCEA465D-3B34-EF7B-6103-052606232DE0}"/>
              </a:ext>
            </a:extLst>
          </p:cNvPr>
          <p:cNvSpPr/>
          <p:nvPr/>
        </p:nvSpPr>
        <p:spPr>
          <a:xfrm>
            <a:off x="359435" y="1343681"/>
            <a:ext cx="324305" cy="32430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>
              <a:defRPr/>
            </a:pPr>
            <a:endParaRPr lang="en-US" altLang="ko-KR" sz="1050" dirty="0">
              <a:solidFill>
                <a:prstClr val="white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0B476BB9-D4A7-AB43-298B-369DC1F84C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76" y="1428762"/>
            <a:ext cx="187822" cy="149408"/>
            <a:chOff x="6124" y="305"/>
            <a:chExt cx="841" cy="66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A4C3830-8E01-3B5D-9CBD-142EABB06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D8FB0FC-A97C-3D18-4CFC-B344E96F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51860-AFC9-F8EB-4239-8131ABDF8E1A}"/>
              </a:ext>
            </a:extLst>
          </p:cNvPr>
          <p:cNvSpPr/>
          <p:nvPr/>
        </p:nvSpPr>
        <p:spPr>
          <a:xfrm>
            <a:off x="266402" y="726380"/>
            <a:ext cx="516135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" b="1" dirty="0">
                <a:solidFill>
                  <a:prstClr val="white"/>
                </a:solidFill>
              </a:rPr>
              <a:t>seok830621</a:t>
            </a:r>
            <a:endParaRPr lang="ko-KR" altLang="en-US" sz="400" b="1" dirty="0">
              <a:solidFill>
                <a:prstClr val="white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F9B99FF-FE1D-FA23-DAEA-67E4F7BD468F}"/>
              </a:ext>
            </a:extLst>
          </p:cNvPr>
          <p:cNvSpPr/>
          <p:nvPr/>
        </p:nvSpPr>
        <p:spPr>
          <a:xfrm>
            <a:off x="546116" y="1869636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900" dirty="0">
                <a:solidFill>
                  <a:prstClr val="white"/>
                </a:solidFill>
              </a:rPr>
              <a:t>5</a:t>
            </a:r>
            <a:endParaRPr lang="ko-KR" altLang="en-US" sz="900" dirty="0">
              <a:solidFill>
                <a:prstClr val="white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B32001-AF77-3358-731F-0101366F17D9}"/>
              </a:ext>
            </a:extLst>
          </p:cNvPr>
          <p:cNvSpPr/>
          <p:nvPr/>
        </p:nvSpPr>
        <p:spPr>
          <a:xfrm>
            <a:off x="519739" y="3453379"/>
            <a:ext cx="145384" cy="14538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500" dirty="0">
                <a:solidFill>
                  <a:prstClr val="white"/>
                </a:solidFill>
              </a:rPr>
              <a:t>off</a:t>
            </a:r>
            <a:endParaRPr lang="ko-KR" altLang="en-US" sz="500" dirty="0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3120089" y="507725"/>
            <a:ext cx="582300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6000" dirty="0">
                <a:solidFill>
                  <a:schemeClr val="bg2">
                    <a:lumMod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소감</a:t>
            </a:r>
            <a:endParaRPr lang="en-US" altLang="ko-KR" sz="6000" dirty="0">
              <a:solidFill>
                <a:schemeClr val="bg2">
                  <a:lumMod val="2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96001" y="2115570"/>
            <a:ext cx="50245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이서현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: </a:t>
            </a:r>
            <a:endParaRPr lang="ko-KR" altLang="en-US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데이터 분석과 예측 모델링은 현상을 이해하고 미래를 예측하는 강력한 도구이며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선형 회귀를 통해 간단하면서도 유용한 정보를 얻을 수 있다는 것을 느꼈다</a:t>
            </a:r>
            <a:r>
              <a:rPr lang="en-US" altLang="ko-KR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ko-KR" altLang="en-US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5122" name="Picture 2" descr="생각 - 무료 연락개 아이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245" y="1869636"/>
            <a:ext cx="3952069" cy="395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009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타원 5"/>
          <p:cNvSpPr/>
          <p:nvPr/>
        </p:nvSpPr>
        <p:spPr>
          <a:xfrm>
            <a:off x="1703836" y="1907346"/>
            <a:ext cx="2579083" cy="2579083"/>
          </a:xfrm>
          <a:prstGeom prst="ellipse">
            <a:avLst/>
          </a:prstGeom>
          <a:solidFill>
            <a:srgbClr val="BFDCF7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3200" b="1" dirty="0">
              <a:ln w="3175">
                <a:noFill/>
              </a:ln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4860693" y="1907345"/>
            <a:ext cx="2579083" cy="2579083"/>
          </a:xfrm>
          <a:prstGeom prst="ellipse">
            <a:avLst/>
          </a:prstGeom>
          <a:solidFill>
            <a:srgbClr val="1F7258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3200" b="1" dirty="0">
              <a:ln w="3175"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8017550" y="1907345"/>
            <a:ext cx="2579083" cy="2579083"/>
          </a:xfrm>
          <a:prstGeom prst="ellipse">
            <a:avLst/>
          </a:prstGeom>
          <a:solidFill>
            <a:srgbClr val="FF6600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3200" b="1" dirty="0">
              <a:ln w="3175"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3EE0DC-FE56-D00E-9D7F-A21BB407CAFE}"/>
              </a:ext>
            </a:extLst>
          </p:cNvPr>
          <p:cNvSpPr/>
          <p:nvPr/>
        </p:nvSpPr>
        <p:spPr>
          <a:xfrm>
            <a:off x="1524201" y="2078384"/>
            <a:ext cx="8844749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8800" dirty="0">
                <a:solidFill>
                  <a:srgbClr val="FFFC4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27106316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506</Words>
  <Application>Microsoft Office PowerPoint</Application>
  <PresentationFormat>와이드스크린</PresentationFormat>
  <Paragraphs>139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G마켓 산스 TTF Bold</vt:lpstr>
      <vt:lpstr>HY그래픽M</vt:lpstr>
      <vt:lpstr>맑은 고딕</vt:lpstr>
      <vt:lpstr>티웨이_항공</vt:lpstr>
      <vt:lpstr>Arial</vt:lpstr>
      <vt:lpstr>Segoe UI Black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yangjungyo</cp:lastModifiedBy>
  <cp:revision>54</cp:revision>
  <dcterms:created xsi:type="dcterms:W3CDTF">2023-08-06T06:02:45Z</dcterms:created>
  <dcterms:modified xsi:type="dcterms:W3CDTF">2025-05-29T05:17:22Z</dcterms:modified>
</cp:coreProperties>
</file>